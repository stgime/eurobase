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00584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First EU-Native Backend-as-a-Service Platform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 •  Stefan Gimeson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280160"/>
            <a:ext cx="54864" cy="137160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60020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companies face rising pressure from GDPR, Schrems II, and the US CLOUD Act. All major backend platforms — Firebase, Supabase, AWS, Google Cloud — are US-owned and cannot guarantee true data sovereignty.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3931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834640"/>
            <a:ext cx="54864" cy="192024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EU-owned, EU-hosted, EU-jurisdiction developer platform with zero DevOps and no US legal exposure: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84448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3584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794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with Realtime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0507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4005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15384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0120" y="4215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Functions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425696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60120" y="442569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SDKs &amp; Dashboard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4754880" y="128016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754880" y="1280160"/>
            <a:ext cx="54864" cy="1737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19"/>
          <p:cNvSpPr/>
          <p:nvPr/>
        </p:nvSpPr>
        <p:spPr>
          <a:xfrm>
            <a:off x="493776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SELLING PROPOSITION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673352"/>
            <a:ext cx="146304" cy="1463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166360" y="1645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sovereignty: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CLOUD Act-immune</a:t>
            </a:r>
            <a:endParaRPr lang="en-US" sz="9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1993392"/>
            <a:ext cx="146304" cy="14630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16636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GDPR-native: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locking, audit logs, automated DPAs</a:t>
            </a:r>
            <a:endParaRPr lang="en-US" sz="95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313432"/>
            <a:ext cx="146304" cy="14630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166360" y="22860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GovTech: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roadmap, VPC &amp; on-prem editions</a:t>
            </a:r>
            <a:endParaRPr lang="en-US" sz="9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2633472"/>
            <a:ext cx="146304" cy="146304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166360" y="2606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tooling: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Painless move from Firebase/Supabase</a:t>
            </a:r>
            <a:endParaRPr lang="en-US" sz="950" dirty="0"/>
          </a:p>
        </p:txBody>
      </p:sp>
      <p:sp>
        <p:nvSpPr>
          <p:cNvPr id="36" name="Shape 24"/>
          <p:cNvSpPr/>
          <p:nvPr/>
        </p:nvSpPr>
        <p:spPr>
          <a:xfrm>
            <a:off x="4754880" y="3200400"/>
            <a:ext cx="3931920" cy="114300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25"/>
          <p:cNvSpPr/>
          <p:nvPr/>
        </p:nvSpPr>
        <p:spPr>
          <a:xfrm>
            <a:off x="4937760" y="32552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PROPOSITION</a:t>
            </a:r>
            <a:endParaRPr lang="en-US" sz="10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538728"/>
            <a:ext cx="155448" cy="15544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166360" y="35204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Developers: </a:t>
            </a:r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like on Firebase — privacy-first &amp; EU-native</a:t>
            </a:r>
            <a:endParaRPr lang="en-US" sz="9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794760"/>
            <a:ext cx="155448" cy="15544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166360" y="3776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Enterprises: </a:t>
            </a:r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Compliant, modern backend replacing US platforms</a:t>
            </a:r>
            <a:endParaRPr lang="en-US" sz="9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4050792"/>
            <a:ext cx="155448" cy="15544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166360" y="4032504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Ecosystem: </a:t>
            </a:r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 for sovereign cloud &amp; AI services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929"/>
          </a:solidFill>
          <a:ln/>
        </p:spPr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837176"/>
            <a:ext cx="219456" cy="219456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777240" y="4800600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default backend platform for Europe — today's biggest underserved cloud market.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Europe's Own Backend Platform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60120" y="594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Pitch  •  Stefan Gimeson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8229600" cy="9601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005840"/>
            <a:ext cx="54864" cy="9601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0607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15-SECOND PITCH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" y="12801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a fully EU-native alternative to Firebase/Supabase — a developer platform for auth, database, storage and serverless functions, hosted exclusively on European infrastructure, owned by an EU company, and immune to the US CLOUD Act.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6712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148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USP — UNIQUE SELLING PROPOSITION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57200" y="2514600"/>
            <a:ext cx="155448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2514600"/>
            <a:ext cx="155448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6243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EU-Owned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6928" y="288036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EU-hosted, EU-jurisdiction.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Act exposure.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Schrems II–safe by design.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125980" y="2514600"/>
            <a:ext cx="155448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125980" y="2514600"/>
            <a:ext cx="155448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4"/>
          <p:cNvSpPr/>
          <p:nvPr/>
        </p:nvSpPr>
        <p:spPr>
          <a:xfrm>
            <a:off x="2235708" y="26243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Zero-DevOps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235708" y="288036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Auth, Storage,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Realtime, Functions —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in seconds.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794760" y="2514600"/>
            <a:ext cx="155448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794760" y="2514600"/>
            <a:ext cx="1554480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2" name="Text 18"/>
          <p:cNvSpPr/>
          <p:nvPr/>
        </p:nvSpPr>
        <p:spPr>
          <a:xfrm>
            <a:off x="3904488" y="26243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GDPR-Native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04488" y="288036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locking, audit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retention,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DPAs.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5463540" y="2514600"/>
            <a:ext cx="155448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463540" y="2514600"/>
            <a:ext cx="1554480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6" name="Text 22"/>
          <p:cNvSpPr/>
          <p:nvPr/>
        </p:nvSpPr>
        <p:spPr>
          <a:xfrm>
            <a:off x="5573268" y="26243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Enterprise-Ready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573268" y="288036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roadmap,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&amp; private cloud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deployable.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132320" y="2514600"/>
            <a:ext cx="1554480" cy="118872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132320" y="2514600"/>
            <a:ext cx="1554480" cy="3657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6"/>
          <p:cNvSpPr/>
          <p:nvPr/>
        </p:nvSpPr>
        <p:spPr>
          <a:xfrm>
            <a:off x="7242048" y="26243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Migration Kit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242048" y="2880360"/>
            <a:ext cx="1335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painless exit path from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Firebase/Supabase that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companies need.</a:t>
            </a:r>
            <a:endParaRPr lang="en-US" sz="8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13048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31520" y="37947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PROPOSITION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57200" y="4142232"/>
            <a:ext cx="2651760" cy="868680"/>
          </a:xfrm>
          <a:prstGeom prst="rect">
            <a:avLst/>
          </a:prstGeom>
          <a:solidFill>
            <a:srgbClr val="1565C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233672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41248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Developers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66928" y="4489704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apps in minutes without touching infrastructure — like Firebase, but privacy-first and EU-native.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3246120" y="4142232"/>
            <a:ext cx="2651760" cy="868680"/>
          </a:xfrm>
          <a:prstGeom prst="rect">
            <a:avLst/>
          </a:prstGeom>
          <a:solidFill>
            <a:srgbClr val="0069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4233672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630168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Enterprises &amp; GovTech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3355848" y="4489704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backend that satisfies strict EU regulatory, sovereignty, and compliance requirements.</a:t>
            </a:r>
            <a:endParaRPr lang="en-US" sz="850" dirty="0"/>
          </a:p>
        </p:txBody>
      </p:sp>
      <p:sp>
        <p:nvSpPr>
          <p:cNvPr id="42" name="Shape 35"/>
          <p:cNvSpPr/>
          <p:nvPr/>
        </p:nvSpPr>
        <p:spPr>
          <a:xfrm>
            <a:off x="6035040" y="4142232"/>
            <a:ext cx="2651760" cy="868680"/>
          </a:xfrm>
          <a:prstGeom prst="rect">
            <a:avLst/>
          </a:prstGeom>
          <a:solidFill>
            <a:srgbClr val="4527A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4233672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419088" y="42153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the EU Ecosystem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144768" y="4489704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sovereign cloud building block keeping sensitive data, AI pipelines, and digital services under EU control.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B3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EU-Native BaaS — Infrastructure Stack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68680" y="4754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providers powering each layer  •  Stefan Gimeson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804672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804672"/>
            <a:ext cx="1965960" cy="3200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868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Authentication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11521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Identity &amp; OAuth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48640" y="1298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ORY, Passbolt (LU)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48640" y="16093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Auth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48640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Zitadel (CH), Elastic Security (NL)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48640" y="20665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Self-hosted Auth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48640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(EU OSS), Authelia (FR)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2542032" y="804672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42032" y="804672"/>
            <a:ext cx="1965960" cy="3200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7" name="Text 14"/>
          <p:cNvSpPr/>
          <p:nvPr/>
        </p:nvSpPr>
        <p:spPr>
          <a:xfrm>
            <a:off x="2633472" y="868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Database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633472" y="11521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Postgres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633472" y="1298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Cloud, Aiven (FI), Scaleway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633472" y="16093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88E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VM (self-host)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633472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Hetzner, Scaleway (FR), OVHcloud (FR)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4626864" y="804672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26864" y="804672"/>
            <a:ext cx="1965960" cy="32004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4" name="Text 21"/>
          <p:cNvSpPr/>
          <p:nvPr/>
        </p:nvSpPr>
        <p:spPr>
          <a:xfrm>
            <a:off x="4718304" y="868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Object Storage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18304" y="11521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S3-Compatible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718304" y="1298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Scaleway (FR), Backblaze EU (AMS)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18304" y="16093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Self-hosted MinIO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4718304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Hetzner, Scaleway, OVHcloud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18304" y="20665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3A0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&amp; Blob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718304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pCloud (CH), Tresorit (CH)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711696" y="804672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711696" y="804672"/>
            <a:ext cx="1965960" cy="32004"/>
          </a:xfrm>
          <a:prstGeom prst="rect">
            <a:avLst/>
          </a:prstGeom>
          <a:solidFill>
            <a:srgbClr val="8E24AA"/>
          </a:solidFill>
          <a:ln/>
        </p:spPr>
      </p:sp>
      <p:sp>
        <p:nvSpPr>
          <p:cNvPr id="33" name="Text 30"/>
          <p:cNvSpPr/>
          <p:nvPr/>
        </p:nvSpPr>
        <p:spPr>
          <a:xfrm>
            <a:off x="6803136" y="8686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Realtime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803136" y="11521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2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Kafka / Event Streams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803136" y="12984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Aiven (FI), Clever Cloud (FR)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803136" y="16093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2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6803136" y="17556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logical repl, Debezium EU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803136" y="206654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E2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WebSockets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6803136" y="22128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Hetzner/Scaleway, Ably EU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457200" y="2706624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57200" y="2706624"/>
            <a:ext cx="1965960" cy="3200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2" name="Text 39"/>
          <p:cNvSpPr/>
          <p:nvPr/>
        </p:nvSpPr>
        <p:spPr>
          <a:xfrm>
            <a:off x="548640" y="2770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Serverless Functions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48640" y="3054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Serverless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48640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Scaleway Functions (FR)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48640" y="35112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 Runtimes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54864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Civo EU (UK, EU-hosted)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548640" y="39684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K8s-based FaaS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548640" y="4114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OpenFaaS, Knative on Hetzner/Scaleway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2542032" y="2706624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2542032" y="2706624"/>
            <a:ext cx="1965960" cy="3200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1" name="Text 48"/>
          <p:cNvSpPr/>
          <p:nvPr/>
        </p:nvSpPr>
        <p:spPr>
          <a:xfrm>
            <a:off x="2633472" y="2770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Edge Caching &amp; CDN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2633472" y="3054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CDN, EU-owned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2633472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bunny.net (Slovenia) ⭐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633472" y="35112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Edge Security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2633472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Gcore (Luxembourg)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2633472" y="39684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Hosting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2633472" y="4114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EU (US-owned, CLOUD Act)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4626864" y="2706624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4626864" y="2706624"/>
            <a:ext cx="1965960" cy="3200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0" name="Text 57"/>
          <p:cNvSpPr/>
          <p:nvPr/>
        </p:nvSpPr>
        <p:spPr>
          <a:xfrm>
            <a:off x="4718304" y="2770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📜  Logging &amp; Monitoring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4718304" y="3054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4718304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Checkly (EU), Sematext (EU)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4718304" y="35112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 Elastic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4718304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(NL/US mix, EU presence)</a:t>
            </a:r>
            <a:endParaRPr lang="en-US" sz="750" dirty="0"/>
          </a:p>
        </p:txBody>
      </p:sp>
      <p:sp>
        <p:nvSpPr>
          <p:cNvPr id="65" name="Text 62"/>
          <p:cNvSpPr/>
          <p:nvPr/>
        </p:nvSpPr>
        <p:spPr>
          <a:xfrm>
            <a:off x="4718304" y="39684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4718304" y="4114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on Hetzner/Scaleway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6711696" y="2706624"/>
            <a:ext cx="1965960" cy="1783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6711696" y="2706624"/>
            <a:ext cx="1965960" cy="3200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69" name="Text 66"/>
          <p:cNvSpPr/>
          <p:nvPr/>
        </p:nvSpPr>
        <p:spPr>
          <a:xfrm>
            <a:off x="6803136" y="27706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AI &amp; Vector Storage</a:t>
            </a:r>
            <a:endParaRPr lang="en-US" sz="1000" dirty="0"/>
          </a:p>
        </p:txBody>
      </p:sp>
      <p:sp>
        <p:nvSpPr>
          <p:cNvPr id="70" name="Text 67"/>
          <p:cNvSpPr/>
          <p:nvPr/>
        </p:nvSpPr>
        <p:spPr>
          <a:xfrm>
            <a:off x="6803136" y="3054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DBs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6803136" y="3200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(DE), Weaviate (NL)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6803136" y="35112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 Compute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6803136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Scaleway GPU, OVHcloud GPU, Hetzner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6803136" y="39684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 / Inference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6803136" y="4114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 Alpha (DE), Mistral AI (FR)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1220"/>
          </a:solidFill>
          <a:ln/>
        </p:spPr>
      </p:sp>
      <p:pic>
        <p:nvPicPr>
          <p:cNvPr id="7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37176"/>
            <a:ext cx="201168" cy="201168"/>
          </a:xfrm>
          <a:prstGeom prst="rect">
            <a:avLst/>
          </a:prstGeom>
        </p:spPr>
      </p:pic>
      <p:sp>
        <p:nvSpPr>
          <p:cNvPr id="78" name="Text 74"/>
          <p:cNvSpPr/>
          <p:nvPr/>
        </p:nvSpPr>
        <p:spPr>
          <a:xfrm>
            <a:off x="731520" y="4800600"/>
            <a:ext cx="7772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layers sourced from EU-owned or EU-hosted providers — zero US CLOUD Act exposure.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Market Opportunity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BaaS market is booming — and Europe has zero sovereign options  •  Stefan Gimeson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196596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04672"/>
            <a:ext cx="196596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89611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$8.4B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BaaS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(2024)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167335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$31.1B by 2030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804672"/>
            <a:ext cx="196596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804672"/>
            <a:ext cx="1965960" cy="3657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89611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9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24.3%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128016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BaaS Market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51760" y="167335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2024–2030 growth rate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196596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804672"/>
            <a:ext cx="1965960" cy="36576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89611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1FA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$177B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36592" y="128016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Cloud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(2025)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167335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$525B by 2032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11696" y="804672"/>
            <a:ext cx="1965960" cy="123444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804672"/>
            <a:ext cx="1965960" cy="3657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21424" y="896112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21424" y="128016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Businesses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Sovereignty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21424" y="1673352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vendor selection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22402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Competitor Landscape — All US-Owned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645920"/>
                <a:gridCol w="1463040"/>
                <a:gridCol w="2286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Platform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Revenue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Valuation / Funding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Developers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 Insight</a:t>
                      </a:r>
                      <a:endParaRPr lang="en-US" sz="8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(Google)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$50M+ (2020)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subsidiary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1M+ devs, 1.5M+ apps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leader, full vendor lock-in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$70M ARR (2025)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$5.1B val, $501M raised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1.7M+ developers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250% YoY growth, vibe-coding boom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Appwrite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$1–10M est.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$37M raised (Series 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150K+ developers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Open-source, self-hostable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Amplify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of $29B+ AWS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subsidiary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 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deep AWS lock-in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Seed-funded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Growing (GraphQL)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+ Hasura, EU-friendly but small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3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457200" y="4160520"/>
            <a:ext cx="5303520" cy="640080"/>
          </a:xfrm>
          <a:prstGeom prst="rect">
            <a:avLst/>
          </a:prstGeom>
          <a:solidFill>
            <a:srgbClr val="1A237E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7200" y="4160520"/>
            <a:ext cx="54864" cy="64008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206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EU GAP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" y="4389120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hyperscalers control &gt;70% of Europe's cloud infrastructure. 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EU-native BaaS platform. Every major option — Firebase, Supabase, Amplify — is US-owned, US-hosted, and subject to the CLOUD Act.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943600" y="4160520"/>
            <a:ext cx="2743200" cy="640080"/>
          </a:xfrm>
          <a:prstGeom prst="rect">
            <a:avLst/>
          </a:prstGeom>
          <a:solidFill>
            <a:srgbClr val="0D213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035040" y="4178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39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000" dirty="0"/>
          </a:p>
        </p:txBody>
      </p:sp>
      <p:sp>
        <p:nvSpPr>
          <p:cNvPr id="33" name="Text 30"/>
          <p:cNvSpPr/>
          <p:nvPr/>
        </p:nvSpPr>
        <p:spPr>
          <a:xfrm>
            <a:off x="6949440" y="42336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EU-native BaaS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exist today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51220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6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Markets (BaaS Market 2024-2030) • Sacra.com (Supabase ARR 2025) • Tracxn (Supabase $5.1B val, Appwrite funding) • Getlatka (Firebase $50M rev) • Crunchbase (Firebase 1M+ devs) • Fortune Business Insights (EU Cloud Market) • Impossible Cloud / Gart Solutions (EU sovereignty data) • Bitcot.com (Firebase 1.5M+ apps)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EU-Native Backend-as-a-Service Platform</dc:title>
  <dc:subject>PptxGenJS Presentation</dc:subject>
  <dc:creator>Stefan Gimeson</dc:creator>
  <cp:lastModifiedBy>Stefan Gimeson</cp:lastModifiedBy>
  <cp:revision>1</cp:revision>
  <dcterms:created xsi:type="dcterms:W3CDTF">2026-02-10T20:17:16Z</dcterms:created>
  <dcterms:modified xsi:type="dcterms:W3CDTF">2026-02-10T20:17:16Z</dcterms:modified>
</cp:coreProperties>
</file>